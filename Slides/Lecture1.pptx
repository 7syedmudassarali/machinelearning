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84" r:id="rId12"/>
    <p:sldId id="265" r:id="rId13"/>
    <p:sldId id="266" r:id="rId14"/>
    <p:sldId id="267" r:id="rId15"/>
    <p:sldId id="280" r:id="rId16"/>
    <p:sldId id="268" r:id="rId17"/>
    <p:sldId id="281" r:id="rId18"/>
    <p:sldId id="269" r:id="rId19"/>
    <p:sldId id="270" r:id="rId20"/>
    <p:sldId id="271" r:id="rId21"/>
    <p:sldId id="278" r:id="rId22"/>
    <p:sldId id="272" r:id="rId23"/>
    <p:sldId id="273" r:id="rId24"/>
    <p:sldId id="274" r:id="rId25"/>
    <p:sldId id="275" r:id="rId26"/>
    <p:sldId id="276" r:id="rId27"/>
    <p:sldId id="277" r:id="rId28"/>
    <p:sldId id="283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7C995-81B6-4DA9-9DB1-F047549FCA2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DDDDA-7B30-4C09-9F08-47A0D823F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2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DDDDA-7B30-4C09-9F08-47A0D823F7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75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DDDDA-7B30-4C09-9F08-47A0D823F7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29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3DDDDA-7B30-4C09-9F08-47A0D823F7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8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737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4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5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97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3703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1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29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75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48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89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488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771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515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277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010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72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27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3774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136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6160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5985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857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862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02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62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068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189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EE167717-7458-4985-891B-9930650569D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7FDC2F2B-FD9B-49AD-A759-56C63FF6AE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893023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  <p:sldLayoutId id="2147483854" r:id="rId20"/>
    <p:sldLayoutId id="2147483855" r:id="rId21"/>
    <p:sldLayoutId id="2147483856" r:id="rId22"/>
    <p:sldLayoutId id="2147483857" r:id="rId23"/>
    <p:sldLayoutId id="2147483858" r:id="rId24"/>
    <p:sldLayoutId id="2147483859" r:id="rId25"/>
    <p:sldLayoutId id="2147483860" r:id="rId26"/>
    <p:sldLayoutId id="2147483861" r:id="rId27"/>
    <p:sldLayoutId id="214748386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B3CF7-A8D1-8E83-E065-2BA52C493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714" y="1164771"/>
            <a:ext cx="9144000" cy="365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Machine Learning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Lecture 1: Introduction to Machine Learning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b="1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AAF00-DF6E-42DA-4D4E-8A0AB22B9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61073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Instructor: Maheen Zulfiqar</a:t>
            </a:r>
          </a:p>
        </p:txBody>
      </p:sp>
    </p:spTree>
    <p:extLst>
      <p:ext uri="{BB962C8B-B14F-4D97-AF65-F5344CB8AC3E}">
        <p14:creationId xmlns:p14="http://schemas.microsoft.com/office/powerpoint/2010/main" val="103698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DCFB6-2DED-E084-28B8-8A4268CF7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5853D-B2FA-1FBB-C550-F07C078ED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After this lecture, you will be able to: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Define Artificial Intelligence (AI), Machine Learning (ML), and Deep Learning (DL).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Differentiate between AI, ML, and DL.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Describe different types of Machine Learning.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Explain the Machine Learning workflow.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dirty="0"/>
              <a:t>Identify real-world applications of Machine Learning.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219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5DD2-1ADD-AF36-93F1-0E4E7628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7629E-C938-0DD5-31AD-D9913FE02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2400" dirty="0"/>
              <a:t>Artificial Intelligence </a:t>
            </a:r>
          </a:p>
          <a:p>
            <a:pPr lvl="0"/>
            <a:r>
              <a:rPr lang="en-US" sz="2400" dirty="0"/>
              <a:t>Machine Learning </a:t>
            </a:r>
          </a:p>
          <a:p>
            <a:pPr lvl="0"/>
            <a:r>
              <a:rPr lang="en-US" sz="2400" dirty="0"/>
              <a:t>Deep Learning </a:t>
            </a:r>
          </a:p>
          <a:p>
            <a:pPr lvl="0"/>
            <a:r>
              <a:rPr lang="en-US" sz="2400" dirty="0"/>
              <a:t>Types of Machine Learning </a:t>
            </a:r>
          </a:p>
          <a:p>
            <a:pPr lvl="0"/>
            <a:r>
              <a:rPr lang="en-US" sz="2400" dirty="0"/>
              <a:t>Machine Learning Pipeline </a:t>
            </a:r>
          </a:p>
          <a:p>
            <a:pPr lvl="0"/>
            <a:r>
              <a:rPr lang="en-US" sz="2400" dirty="0"/>
              <a:t>Python Libraries </a:t>
            </a:r>
          </a:p>
          <a:p>
            <a:pPr lvl="0"/>
            <a:r>
              <a:rPr lang="en-US" sz="2400" dirty="0"/>
              <a:t>Applications </a:t>
            </a:r>
          </a:p>
          <a:p>
            <a:pPr lvl="0"/>
            <a:r>
              <a:rPr lang="en-US" sz="2400" dirty="0"/>
              <a:t>Challenges </a:t>
            </a:r>
          </a:p>
          <a:p>
            <a:pPr lvl="0"/>
            <a:r>
              <a:rPr lang="en-US" sz="2400" dirty="0"/>
              <a:t>Ethics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876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4B-B2F8-B912-85A9-F2354B8D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Have You Seen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A9A3C-023A-ED29-8497-0A6CD3338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Examples:</a:t>
            </a:r>
          </a:p>
          <a:p>
            <a:r>
              <a:rPr lang="en-US" sz="2000" dirty="0"/>
              <a:t>📱 Face Unlock</a:t>
            </a:r>
          </a:p>
          <a:p>
            <a:r>
              <a:rPr lang="en-US" sz="2000" dirty="0"/>
              <a:t>📧 Gmail Spam Filter</a:t>
            </a:r>
          </a:p>
          <a:p>
            <a:r>
              <a:rPr lang="en-US" sz="2000" dirty="0"/>
              <a:t>🎬 Netflix Recommendations</a:t>
            </a:r>
          </a:p>
          <a:p>
            <a:r>
              <a:rPr lang="en-US" sz="2000" dirty="0"/>
              <a:t>🛒 Amazon Recommendations</a:t>
            </a:r>
          </a:p>
          <a:p>
            <a:r>
              <a:rPr lang="en-US" sz="2000" dirty="0"/>
              <a:t>🚗 Self-Driving Cars</a:t>
            </a:r>
          </a:p>
          <a:p>
            <a:r>
              <a:rPr lang="en-US" sz="2000" dirty="0"/>
              <a:t>🤖 ChatGPT</a:t>
            </a:r>
          </a:p>
          <a:p>
            <a:r>
              <a:rPr lang="en-US" sz="2000" b="1" dirty="0"/>
              <a:t>Discussion</a:t>
            </a:r>
          </a:p>
          <a:p>
            <a:r>
              <a:rPr lang="en-US" sz="2000" b="1" dirty="0"/>
              <a:t>What do these systems have in common?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23139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C2B-F473-4C79-7F8A-E0192C15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2E1CB-AAF4-18B4-92D5-98847F47B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Artificial Intelligence (AI) is the branch of computer science that enables machines to perform tasks requiring human intelligence.</a:t>
            </a:r>
          </a:p>
          <a:p>
            <a:r>
              <a:rPr lang="en-US" sz="2400" b="1" dirty="0"/>
              <a:t>Examples</a:t>
            </a:r>
          </a:p>
          <a:p>
            <a:pPr lvl="0"/>
            <a:r>
              <a:rPr lang="en-US" sz="2400" dirty="0"/>
              <a:t>Speech Recognition </a:t>
            </a:r>
          </a:p>
          <a:p>
            <a:pPr lvl="0"/>
            <a:r>
              <a:rPr lang="en-US" sz="2400" dirty="0"/>
              <a:t>Robotics </a:t>
            </a:r>
          </a:p>
          <a:p>
            <a:pPr lvl="0"/>
            <a:r>
              <a:rPr lang="en-US" sz="2400" dirty="0"/>
              <a:t>Expert Systems </a:t>
            </a:r>
          </a:p>
          <a:p>
            <a:pPr lvl="0"/>
            <a:r>
              <a:rPr lang="en-US" sz="2400" dirty="0"/>
              <a:t>Natural Language Processing </a:t>
            </a:r>
          </a:p>
          <a:p>
            <a:pPr lvl="0"/>
            <a:r>
              <a:rPr lang="en-US" sz="2400" dirty="0"/>
              <a:t>Computer Vision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582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C323D-DA3C-FCAF-C070-503B89DB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2A4A6-423D-8F74-2F28-07AD5931C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Machine Learning is a subset of Artificial Intelligence that enables computers to learn from data without being explicitly programmed.</a:t>
            </a:r>
          </a:p>
          <a:p>
            <a:r>
              <a:rPr lang="en-US" sz="2800" b="1" dirty="0"/>
              <a:t>Key Idea</a:t>
            </a:r>
          </a:p>
          <a:p>
            <a:r>
              <a:rPr lang="en-US" sz="2800" b="1" dirty="0"/>
              <a:t>Learn from Data → Make Predictions</a:t>
            </a:r>
            <a:endParaRPr lang="en-US" sz="2800" dirty="0"/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Spam Detection</a:t>
            </a:r>
          </a:p>
          <a:p>
            <a:r>
              <a:rPr lang="en-US" sz="2800" dirty="0"/>
              <a:t>House Price Prediction</a:t>
            </a:r>
          </a:p>
          <a:p>
            <a:r>
              <a:rPr lang="en-US" sz="2800" dirty="0"/>
              <a:t>Medical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6B19-DA53-E6AD-65B8-5121E380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Programming vs Machine Learning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F024A59-5628-3F7A-74AB-DAD6DC1DD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8800"/>
            <a:ext cx="10439400" cy="469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3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3E91-0DBA-63BE-BB12-96D5ACD1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Learning</a:t>
            </a:r>
            <a:br>
              <a:rPr lang="en-US" dirty="0"/>
            </a:br>
            <a:r>
              <a:rPr lang="en-US" dirty="0"/>
              <a:t>What is Deep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A4D9-25B4-E3BE-B1E9-A4920AE82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Deep Learning is a subset of Machine Learning based on Artificial Neural Networks with multiple layers.</a:t>
            </a:r>
          </a:p>
          <a:p>
            <a:r>
              <a:rPr lang="en-US" sz="2400" b="1" dirty="0"/>
              <a:t>Applications</a:t>
            </a:r>
          </a:p>
          <a:p>
            <a:pPr lvl="0"/>
            <a:r>
              <a:rPr lang="en-US" sz="2400" dirty="0"/>
              <a:t>Image Recognition </a:t>
            </a:r>
          </a:p>
          <a:p>
            <a:pPr lvl="0"/>
            <a:r>
              <a:rPr lang="en-US" sz="2400" dirty="0"/>
              <a:t>Speech Recognition </a:t>
            </a:r>
          </a:p>
          <a:p>
            <a:pPr lvl="0"/>
            <a:r>
              <a:rPr lang="en-US" sz="2400" dirty="0"/>
              <a:t>Language Translation </a:t>
            </a:r>
          </a:p>
          <a:p>
            <a:pPr lvl="0"/>
            <a:r>
              <a:rPr lang="en-US" sz="2400" dirty="0"/>
              <a:t>Autonomous Vehicles </a:t>
            </a:r>
          </a:p>
          <a:p>
            <a:pPr lvl="0"/>
            <a:r>
              <a:rPr lang="en-US" sz="2400" dirty="0"/>
              <a:t>Generative AI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769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5507-629B-9346-3B0C-12467064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>
            <a:normAutofit/>
          </a:bodyPr>
          <a:lstStyle/>
          <a:p>
            <a:r>
              <a:rPr lang="en-US" dirty="0"/>
              <a:t>AI vs ML vs DL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D73250-B5F6-0B43-0E4B-6E9FF2F57C03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311221360"/>
              </p:ext>
            </p:extLst>
          </p:nvPr>
        </p:nvGraphicFramePr>
        <p:xfrm>
          <a:off x="419100" y="2535196"/>
          <a:ext cx="5305427" cy="2748047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872997">
                  <a:extLst>
                    <a:ext uri="{9D8B030D-6E8A-4147-A177-3AD203B41FA5}">
                      <a16:colId xmlns:a16="http://schemas.microsoft.com/office/drawing/2014/main" val="429841019"/>
                    </a:ext>
                  </a:extLst>
                </a:gridCol>
                <a:gridCol w="1716215">
                  <a:extLst>
                    <a:ext uri="{9D8B030D-6E8A-4147-A177-3AD203B41FA5}">
                      <a16:colId xmlns:a16="http://schemas.microsoft.com/office/drawing/2014/main" val="2085359521"/>
                    </a:ext>
                  </a:extLst>
                </a:gridCol>
                <a:gridCol w="1716215">
                  <a:extLst>
                    <a:ext uri="{9D8B030D-6E8A-4147-A177-3AD203B41FA5}">
                      <a16:colId xmlns:a16="http://schemas.microsoft.com/office/drawing/2014/main" val="3434872891"/>
                    </a:ext>
                  </a:extLst>
                </a:gridCol>
              </a:tblGrid>
              <a:tr h="689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AI</a:t>
                      </a:r>
                    </a:p>
                  </a:txBody>
                  <a:tcPr marL="189353" marR="145656" marT="145656" marB="1456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ML</a:t>
                      </a:r>
                    </a:p>
                  </a:txBody>
                  <a:tcPr marL="189353" marR="145656" marT="145656" marB="1456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DL</a:t>
                      </a:r>
                    </a:p>
                  </a:txBody>
                  <a:tcPr marL="189353" marR="145656" marT="145656" marB="1456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062007"/>
                  </a:ext>
                </a:extLst>
              </a:tr>
              <a:tr h="102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Broad field</a:t>
                      </a:r>
                    </a:p>
                  </a:txBody>
                  <a:tcPr marL="189353" marR="145656" marT="145656" marB="1456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Subset of AI</a:t>
                      </a:r>
                    </a:p>
                  </a:txBody>
                  <a:tcPr marL="189353" marR="145656" marT="145656" marB="1456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Subset of ML</a:t>
                      </a:r>
                    </a:p>
                  </a:txBody>
                  <a:tcPr marL="189353" marR="145656" marT="145656" marB="1456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209521"/>
                  </a:ext>
                </a:extLst>
              </a:tr>
              <a:tr h="102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Rule-based or Learning</a:t>
                      </a:r>
                    </a:p>
                  </a:txBody>
                  <a:tcPr marL="189353" marR="145656" marT="145656" marB="14565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Learns from data</a:t>
                      </a:r>
                    </a:p>
                  </a:txBody>
                  <a:tcPr marL="189353" marR="145656" marT="145656" marB="1456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Neural Networks</a:t>
                      </a:r>
                    </a:p>
                  </a:txBody>
                  <a:tcPr marL="189353" marR="145656" marT="145656" marB="14565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26504"/>
                  </a:ext>
                </a:extLst>
              </a:tr>
            </a:tbl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EBB10-7C3C-EAD9-3FD1-9CC427215F6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328" y="1719263"/>
            <a:ext cx="4774706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6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9E68-A4D4-E4AF-D5E6-84E210C89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vs machine learning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F689B9-848A-ABCE-0532-83D1B6A17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020992"/>
              </p:ext>
            </p:extLst>
          </p:nvPr>
        </p:nvGraphicFramePr>
        <p:xfrm>
          <a:off x="401638" y="1489074"/>
          <a:ext cx="11253786" cy="4541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262">
                  <a:extLst>
                    <a:ext uri="{9D8B030D-6E8A-4147-A177-3AD203B41FA5}">
                      <a16:colId xmlns:a16="http://schemas.microsoft.com/office/drawing/2014/main" val="1091473695"/>
                    </a:ext>
                  </a:extLst>
                </a:gridCol>
                <a:gridCol w="3751262">
                  <a:extLst>
                    <a:ext uri="{9D8B030D-6E8A-4147-A177-3AD203B41FA5}">
                      <a16:colId xmlns:a16="http://schemas.microsoft.com/office/drawing/2014/main" val="539030906"/>
                    </a:ext>
                  </a:extLst>
                </a:gridCol>
                <a:gridCol w="3751262">
                  <a:extLst>
                    <a:ext uri="{9D8B030D-6E8A-4147-A177-3AD203B41FA5}">
                      <a16:colId xmlns:a16="http://schemas.microsoft.com/office/drawing/2014/main" val="764500336"/>
                    </a:ext>
                  </a:extLst>
                </a:gridCol>
              </a:tblGrid>
              <a:tr h="469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339934"/>
                  </a:ext>
                </a:extLst>
              </a:tr>
              <a:tr h="469600">
                <a:tc>
                  <a:txBody>
                    <a:bodyPr/>
                    <a:lstStyle/>
                    <a:p>
                      <a:r>
                        <a:rPr lang="en-US" dirty="0"/>
                        <a:t>Data Depecndency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 data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data 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773283"/>
                  </a:ext>
                </a:extLst>
              </a:tr>
              <a:tr h="810542">
                <a:tc>
                  <a:txBody>
                    <a:bodyPr/>
                    <a:lstStyle/>
                    <a:p>
                      <a:r>
                        <a:rPr lang="en-US" dirty="0"/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Self-learning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feature engineering to select important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01717"/>
                  </a:ext>
                </a:extLst>
              </a:tr>
              <a:tr h="1852669">
                <a:tc>
                  <a:txBody>
                    <a:bodyPr/>
                    <a:lstStyle/>
                    <a:p>
                      <a:r>
                        <a:rPr lang="en-US" dirty="0"/>
                        <a:t>Problem 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 to end</a:t>
                      </a:r>
                    </a:p>
                    <a:p>
                      <a:r>
                        <a:rPr lang="en-US" dirty="0"/>
                        <a:t>Giving an image of objects: detects and label object in one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Divide problem into subproblems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Giving an image of objects: detects object first, then learns the features to label object.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362240"/>
                  </a:ext>
                </a:extLst>
              </a:tr>
              <a:tr h="469600">
                <a:tc>
                  <a:txBody>
                    <a:bodyPr/>
                    <a:lstStyle/>
                    <a:p>
                      <a:r>
                        <a:rPr lang="en-US" dirty="0"/>
                        <a:t>Execution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64509"/>
                  </a:ext>
                </a:extLst>
              </a:tr>
              <a:tr h="469600">
                <a:tc>
                  <a:txBody>
                    <a:bodyPr/>
                    <a:lstStyle/>
                    <a:p>
                      <a:r>
                        <a:rPr lang="en-US" dirty="0"/>
                        <a:t>Test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724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07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18C8-5E1F-2E7C-B98C-8F55D1626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Traditional ML and deep learning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103A74-06C2-3E5F-DAB5-FC35B23E5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296110"/>
              </p:ext>
            </p:extLst>
          </p:nvPr>
        </p:nvGraphicFramePr>
        <p:xfrm>
          <a:off x="475456" y="1485878"/>
          <a:ext cx="11241087" cy="23774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747029">
                  <a:extLst>
                    <a:ext uri="{9D8B030D-6E8A-4147-A177-3AD203B41FA5}">
                      <a16:colId xmlns:a16="http://schemas.microsoft.com/office/drawing/2014/main" val="1497705474"/>
                    </a:ext>
                  </a:extLst>
                </a:gridCol>
                <a:gridCol w="3747029">
                  <a:extLst>
                    <a:ext uri="{9D8B030D-6E8A-4147-A177-3AD203B41FA5}">
                      <a16:colId xmlns:a16="http://schemas.microsoft.com/office/drawing/2014/main" val="1652945057"/>
                    </a:ext>
                  </a:extLst>
                </a:gridCol>
                <a:gridCol w="3747029">
                  <a:extLst>
                    <a:ext uri="{9D8B030D-6E8A-4147-A177-3AD203B41FA5}">
                      <a16:colId xmlns:a16="http://schemas.microsoft.com/office/drawing/2014/main" val="3452552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Traditional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32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 engineering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Usually </a:t>
                      </a:r>
                      <a:r>
                        <a:rPr lang="en-US" b="1"/>
                        <a:t>required / very important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Usually </a:t>
                      </a:r>
                      <a:r>
                        <a:rPr lang="en-US" b="1"/>
                        <a:t>much less required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849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Who extracts useful features?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Human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Neural network learns them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749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Manually calculate mean, variance, edges, texture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CNN automatically learns edges → shapes → complex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155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Typical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Raw data → </a:t>
                      </a:r>
                      <a:r>
                        <a:rPr lang="en-US" b="1"/>
                        <a:t>Feature Engineering</a:t>
                      </a:r>
                      <a:r>
                        <a:rPr lang="en-US"/>
                        <a:t> → ML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Raw data → </a:t>
                      </a:r>
                      <a:r>
                        <a:rPr lang="en-US" b="1" dirty="0"/>
                        <a:t>Deep Neural Network</a:t>
                      </a:r>
                      <a:r>
                        <a:rPr lang="en-US" dirty="0"/>
                        <a:t> →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64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4B899F-7218-F68B-55DB-7BFB6F66EAEB}"/>
              </a:ext>
            </a:extLst>
          </p:cNvPr>
          <p:cNvSpPr txBox="1"/>
          <p:nvPr/>
        </p:nvSpPr>
        <p:spPr>
          <a:xfrm>
            <a:off x="1088570" y="4464317"/>
            <a:ext cx="105647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Traditional ML relies heavily on human-designed features, whereas deep learning automatically learns useful feature representations from raw or minimally processed data.</a:t>
            </a:r>
            <a:br>
              <a:rPr lang="en-US" sz="24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339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B897-E212-322C-D522-AFE235BF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B91075-F292-39EB-C497-359820DDFD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166301"/>
              </p:ext>
            </p:extLst>
          </p:nvPr>
        </p:nvGraphicFramePr>
        <p:xfrm>
          <a:off x="407987" y="2002971"/>
          <a:ext cx="11241088" cy="3897089"/>
        </p:xfrm>
        <a:graphic>
          <a:graphicData uri="http://schemas.openxmlformats.org/drawingml/2006/table">
            <a:tbl>
              <a:tblPr/>
              <a:tblGrid>
                <a:gridCol w="5620544">
                  <a:extLst>
                    <a:ext uri="{9D8B030D-6E8A-4147-A177-3AD203B41FA5}">
                      <a16:colId xmlns:a16="http://schemas.microsoft.com/office/drawing/2014/main" val="3374401432"/>
                    </a:ext>
                  </a:extLst>
                </a:gridCol>
                <a:gridCol w="5620544">
                  <a:extLst>
                    <a:ext uri="{9D8B030D-6E8A-4147-A177-3AD203B41FA5}">
                      <a16:colId xmlns:a16="http://schemas.microsoft.com/office/drawing/2014/main" val="488350449"/>
                    </a:ext>
                  </a:extLst>
                </a:gridCol>
              </a:tblGrid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Milestone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18946"/>
                  </a:ext>
                </a:extLst>
              </a:tr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Turing 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652372"/>
                  </a:ext>
                </a:extLst>
              </a:tr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Birth of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11163"/>
                  </a:ext>
                </a:extLst>
              </a:tr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Expert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10296"/>
                  </a:ext>
                </a:extLst>
              </a:tr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Deep 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364075"/>
                  </a:ext>
                </a:extLst>
              </a:tr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Learning Boom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0378"/>
                  </a:ext>
                </a:extLst>
              </a:tr>
              <a:tr h="556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Generative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29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799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0ED5-C153-8EC3-47E7-9963D70E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A1DB-747E-00AD-C289-07FD9F05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Three Categories</a:t>
            </a:r>
          </a:p>
          <a:p>
            <a:r>
              <a:rPr lang="en-US" sz="3200" b="1" dirty="0"/>
              <a:t>Supervised Learning</a:t>
            </a:r>
          </a:p>
          <a:p>
            <a:r>
              <a:rPr lang="en-US" sz="3200" b="1" dirty="0"/>
              <a:t>Unsupervised Learning</a:t>
            </a:r>
          </a:p>
          <a:p>
            <a:r>
              <a:rPr lang="en-US" sz="3200" b="1" dirty="0"/>
              <a:t>Reinforcement Learning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97835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0147-152F-F87C-6BA9-378F74D09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438C-9646-419B-51FD-C4AD842A1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Learns from labeled data</a:t>
            </a:r>
          </a:p>
          <a:p>
            <a:pPr marL="0" indent="0">
              <a:buNone/>
            </a:pPr>
            <a:r>
              <a:rPr lang="en-US" sz="2400" b="1" dirty="0"/>
              <a:t>Tasks</a:t>
            </a:r>
          </a:p>
          <a:p>
            <a:pPr lvl="0"/>
            <a:r>
              <a:rPr lang="en-US" sz="2400" dirty="0"/>
              <a:t>Classification </a:t>
            </a:r>
          </a:p>
          <a:p>
            <a:pPr lvl="0"/>
            <a:r>
              <a:rPr lang="en-US" sz="2400" dirty="0"/>
              <a:t>Regression </a:t>
            </a:r>
          </a:p>
          <a:p>
            <a:pPr marL="0" indent="0">
              <a:buNone/>
            </a:pPr>
            <a:r>
              <a:rPr lang="en-US" sz="2400" b="1" dirty="0"/>
              <a:t>Examples</a:t>
            </a:r>
          </a:p>
          <a:p>
            <a:r>
              <a:rPr lang="en-US" sz="2400" dirty="0"/>
              <a:t>Spam Detection</a:t>
            </a:r>
          </a:p>
          <a:p>
            <a:r>
              <a:rPr lang="en-US" sz="2400" dirty="0"/>
              <a:t>Disease Prediction</a:t>
            </a:r>
          </a:p>
          <a:p>
            <a:r>
              <a:rPr lang="en-US" sz="2400" dirty="0"/>
              <a:t>House Price Prediction</a:t>
            </a:r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5EEA61-F579-402A-B422-E275F6639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065" y="1883230"/>
            <a:ext cx="7355992" cy="402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18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6796-C5ED-16D5-AF4B-06A0D3E1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E1267-A7BB-2A5F-851A-F82C3A03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CD2E5-EB81-E49A-64C0-1A610CC1B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79" y="1488931"/>
            <a:ext cx="10910578" cy="494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82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402B-A528-6369-C80A-BFAA0280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12562-399C-E12F-A405-A2790317E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Learns from unlabeled data</a:t>
            </a:r>
          </a:p>
          <a:p>
            <a:pPr marL="0" indent="0">
              <a:buNone/>
            </a:pPr>
            <a:r>
              <a:rPr lang="en-US" sz="2400" b="1" dirty="0"/>
              <a:t>Tasks</a:t>
            </a:r>
          </a:p>
          <a:p>
            <a:pPr lvl="0"/>
            <a:r>
              <a:rPr lang="en-US" sz="2400" dirty="0"/>
              <a:t>Clustering </a:t>
            </a:r>
          </a:p>
          <a:p>
            <a:pPr lvl="0"/>
            <a:r>
              <a:rPr lang="en-US" sz="2400" dirty="0"/>
              <a:t>Association </a:t>
            </a:r>
          </a:p>
          <a:p>
            <a:pPr lvl="0"/>
            <a:r>
              <a:rPr lang="en-US" sz="2400" dirty="0"/>
              <a:t>Dimensionality Reduction </a:t>
            </a:r>
          </a:p>
          <a:p>
            <a:pPr marL="0" indent="0">
              <a:buNone/>
            </a:pPr>
            <a:r>
              <a:rPr lang="en-US" sz="2400" b="1" dirty="0"/>
              <a:t>Examples</a:t>
            </a:r>
          </a:p>
          <a:p>
            <a:r>
              <a:rPr lang="en-US" sz="2400" dirty="0"/>
              <a:t>Customer Segmentation</a:t>
            </a:r>
          </a:p>
          <a:p>
            <a:r>
              <a:rPr lang="en-US" sz="2400" dirty="0"/>
              <a:t>Market Basket Analysis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A1D52-64B5-C919-2344-422D77942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743" y="2330222"/>
            <a:ext cx="6400800" cy="349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89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5314-CEB8-0703-AAA0-934FFD95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5BA6FB-4CBF-098E-18C4-6836CCC8B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944" y="1489075"/>
            <a:ext cx="9401175" cy="470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9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3108-0D95-BF75-5BE4-0AADD90F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265AB-AE5B-89FE-6676-82053627D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Learns through interaction</a:t>
            </a:r>
          </a:p>
          <a:p>
            <a:pPr marL="0" indent="0">
              <a:buNone/>
            </a:pPr>
            <a:r>
              <a:rPr lang="en-US" sz="2400" dirty="0"/>
              <a:t>Components</a:t>
            </a:r>
          </a:p>
          <a:p>
            <a:pPr lvl="0"/>
            <a:r>
              <a:rPr lang="en-US" sz="2400" dirty="0"/>
              <a:t>Agent </a:t>
            </a:r>
          </a:p>
          <a:p>
            <a:pPr lvl="0"/>
            <a:r>
              <a:rPr lang="en-US" sz="2400" dirty="0"/>
              <a:t>Environment </a:t>
            </a:r>
          </a:p>
          <a:p>
            <a:pPr lvl="0"/>
            <a:r>
              <a:rPr lang="en-US" sz="2400" dirty="0"/>
              <a:t>Action </a:t>
            </a:r>
          </a:p>
          <a:p>
            <a:pPr lvl="0"/>
            <a:r>
              <a:rPr lang="en-US" sz="2400" dirty="0"/>
              <a:t>Reward </a:t>
            </a:r>
          </a:p>
          <a:p>
            <a:pPr marL="0" indent="0">
              <a:buNone/>
            </a:pPr>
            <a:r>
              <a:rPr lang="en-US" sz="2400" b="1" dirty="0"/>
              <a:t>Applications</a:t>
            </a:r>
          </a:p>
          <a:p>
            <a:pPr lvl="0"/>
            <a:r>
              <a:rPr lang="en-US" sz="2400" dirty="0"/>
              <a:t>Robotics </a:t>
            </a:r>
          </a:p>
          <a:p>
            <a:pPr lvl="0"/>
            <a:r>
              <a:rPr lang="en-US" sz="2400" dirty="0"/>
              <a:t>Games </a:t>
            </a:r>
          </a:p>
          <a:p>
            <a:pPr lvl="0"/>
            <a:r>
              <a:rPr lang="en-US" sz="2400" dirty="0"/>
              <a:t>Self-driving Cars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4EC11-50F2-7245-E786-85ACDDEFD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114" y="1817913"/>
            <a:ext cx="6847550" cy="445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69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CD6A-024A-3E97-03CF-D0CBDA07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Comparison of Learning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FA3CD-FE5D-646B-6503-2FF984868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29" y="1714500"/>
            <a:ext cx="5769428" cy="4777740"/>
          </a:xfrm>
          <a:prstGeom prst="rect">
            <a:avLst/>
          </a:prstGeom>
          <a:noFill/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39F1D3-4296-4BD2-7248-7AE58B95D73E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556386314"/>
              </p:ext>
            </p:extLst>
          </p:nvPr>
        </p:nvGraphicFramePr>
        <p:xfrm>
          <a:off x="6345936" y="2962161"/>
          <a:ext cx="5321810" cy="1904368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1582220">
                  <a:extLst>
                    <a:ext uri="{9D8B030D-6E8A-4147-A177-3AD203B41FA5}">
                      <a16:colId xmlns:a16="http://schemas.microsoft.com/office/drawing/2014/main" val="3779081328"/>
                    </a:ext>
                  </a:extLst>
                </a:gridCol>
                <a:gridCol w="1829392">
                  <a:extLst>
                    <a:ext uri="{9D8B030D-6E8A-4147-A177-3AD203B41FA5}">
                      <a16:colId xmlns:a16="http://schemas.microsoft.com/office/drawing/2014/main" val="520699829"/>
                    </a:ext>
                  </a:extLst>
                </a:gridCol>
                <a:gridCol w="1910198">
                  <a:extLst>
                    <a:ext uri="{9D8B030D-6E8A-4147-A177-3AD203B41FA5}">
                      <a16:colId xmlns:a16="http://schemas.microsoft.com/office/drawing/2014/main" val="605106415"/>
                    </a:ext>
                  </a:extLst>
                </a:gridCol>
              </a:tblGrid>
              <a:tr h="55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Supervised</a:t>
                      </a:r>
                    </a:p>
                  </a:txBody>
                  <a:tcPr marL="228159" marR="136895" marT="136895" marB="13689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Unsupervised</a:t>
                      </a:r>
                    </a:p>
                  </a:txBody>
                  <a:tcPr marL="228159" marR="136895" marT="136895" marB="1368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Reinforcement</a:t>
                      </a:r>
                    </a:p>
                  </a:txBody>
                  <a:tcPr marL="228159" marR="136895" marT="136895" marB="1368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64071"/>
                  </a:ext>
                </a:extLst>
              </a:tr>
              <a:tr h="55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Labeled Data</a:t>
                      </a:r>
                    </a:p>
                  </a:txBody>
                  <a:tcPr marL="228159" marR="136895" marT="136895" marB="13689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Unlabeled Data</a:t>
                      </a:r>
                    </a:p>
                  </a:txBody>
                  <a:tcPr marL="228159" marR="136895" marT="136895" marB="1368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Reward Based</a:t>
                      </a:r>
                    </a:p>
                  </a:txBody>
                  <a:tcPr marL="228159" marR="136895" marT="136895" marB="1368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33521"/>
                  </a:ext>
                </a:extLst>
              </a:tr>
              <a:tr h="79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Prediction</a:t>
                      </a:r>
                    </a:p>
                  </a:txBody>
                  <a:tcPr marL="228159" marR="136895" marT="136895" marB="136895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Pattern Discovery</a:t>
                      </a:r>
                    </a:p>
                  </a:txBody>
                  <a:tcPr marL="228159" marR="136895" marT="136895" marB="1368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Decision Making</a:t>
                      </a:r>
                    </a:p>
                  </a:txBody>
                  <a:tcPr marL="228159" marR="136895" marT="136895" marB="136895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49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627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4AF2-A49E-7B54-1641-A829AB8B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 anchor="t">
            <a:normAutofit/>
          </a:bodyPr>
          <a:lstStyle/>
          <a:p>
            <a:r>
              <a:rPr lang="en-US" dirty="0"/>
              <a:t>Machine Learning Workflow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2F08D9-6528-C548-8CDB-14003FACB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>
            <a:normAutofit/>
          </a:bodyPr>
          <a:lstStyle/>
          <a:p>
            <a:r>
              <a:rPr lang="en-US" sz="2400" dirty="0"/>
              <a:t>Data Science Engineer</a:t>
            </a:r>
          </a:p>
          <a:p>
            <a:r>
              <a:rPr lang="en-US" sz="2400" dirty="0"/>
              <a:t>ML Engineer</a:t>
            </a:r>
          </a:p>
          <a:p>
            <a:r>
              <a:rPr lang="en-US" sz="2400" dirty="0"/>
              <a:t>AI Engineer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7CB345-6A42-9594-AFBA-B573B5F8430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400800" y="533399"/>
            <a:ext cx="4343400" cy="5791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561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3FD4-3DEC-BAA3-8814-5E8CF13D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/>
          <a:p>
            <a:r>
              <a:rPr lang="en-US" dirty="0"/>
              <a:t>Python Libraries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F16C3CE-6A48-3E59-02BA-3C9D0156BF3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54268770"/>
              </p:ext>
            </p:extLst>
          </p:nvPr>
        </p:nvGraphicFramePr>
        <p:xfrm>
          <a:off x="2183316" y="667511"/>
          <a:ext cx="7766425" cy="4011000"/>
        </p:xfrm>
        <a:graphic>
          <a:graphicData uri="http://schemas.openxmlformats.org/drawingml/2006/table">
            <a:tbl>
              <a:tblPr/>
              <a:tblGrid>
                <a:gridCol w="2835830">
                  <a:extLst>
                    <a:ext uri="{9D8B030D-6E8A-4147-A177-3AD203B41FA5}">
                      <a16:colId xmlns:a16="http://schemas.microsoft.com/office/drawing/2014/main" val="3875674485"/>
                    </a:ext>
                  </a:extLst>
                </a:gridCol>
                <a:gridCol w="4930595">
                  <a:extLst>
                    <a:ext uri="{9D8B030D-6E8A-4147-A177-3AD203B41FA5}">
                      <a16:colId xmlns:a16="http://schemas.microsoft.com/office/drawing/2014/main" val="414640900"/>
                    </a:ext>
                  </a:extLst>
                </a:gridCol>
              </a:tblGrid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Library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/>
                        <a:t>Purpose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21691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NumPy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Numerical Computing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694318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Pandas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Data Analysis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5760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Matplotlib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Visualization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400546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Seaborn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Statistical Plots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916156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Scikit-learn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Machine Learning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685071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TensorFlow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Deep Learning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29618"/>
                  </a:ext>
                </a:extLst>
              </a:tr>
              <a:tr h="50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PyTorch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Deep Learning</a:t>
                      </a:r>
                    </a:p>
                  </a:txBody>
                  <a:tcPr marL="113949" marR="113949" marT="56974" marB="569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05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20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4946-923F-D7E5-0223-F8533D7C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9809A-1D07-0DE0-499A-6F7D86388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2800" dirty="0"/>
              <a:t>Healthcare </a:t>
            </a:r>
          </a:p>
          <a:p>
            <a:pPr lvl="0"/>
            <a:r>
              <a:rPr lang="en-US" sz="2800" dirty="0"/>
              <a:t>Finance </a:t>
            </a:r>
          </a:p>
          <a:p>
            <a:pPr lvl="0"/>
            <a:r>
              <a:rPr lang="en-US" sz="2800" dirty="0"/>
              <a:t>Agriculture </a:t>
            </a:r>
          </a:p>
          <a:p>
            <a:pPr lvl="0"/>
            <a:r>
              <a:rPr lang="en-US" sz="2800" dirty="0"/>
              <a:t>Transportation </a:t>
            </a:r>
          </a:p>
          <a:p>
            <a:pPr lvl="0"/>
            <a:r>
              <a:rPr lang="en-US" sz="2800" dirty="0"/>
              <a:t>Cybersecurity </a:t>
            </a:r>
          </a:p>
          <a:p>
            <a:pPr lvl="0"/>
            <a:r>
              <a:rPr lang="en-US" sz="2800" dirty="0"/>
              <a:t>Recommendation Systems </a:t>
            </a:r>
          </a:p>
          <a:p>
            <a:pPr lvl="0"/>
            <a:r>
              <a:rPr lang="en-US" sz="2800" dirty="0"/>
              <a:t>Manufacturing </a:t>
            </a:r>
          </a:p>
          <a:p>
            <a:pPr lvl="0"/>
            <a:r>
              <a:rPr lang="en-US" sz="2800" dirty="0"/>
              <a:t>Education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54426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D474-6F7C-F3A8-706B-06E1EA9C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0DDB-2EE9-095A-D1D6-F224A712B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Netflix Recommendation System</a:t>
            </a:r>
          </a:p>
          <a:p>
            <a:pPr marL="0" indent="0">
              <a:buNone/>
            </a:pPr>
            <a:r>
              <a:rPr lang="en-US" sz="2400" b="1" dirty="0"/>
              <a:t>Uses</a:t>
            </a:r>
          </a:p>
          <a:p>
            <a:pPr lvl="0"/>
            <a:r>
              <a:rPr lang="en-US" sz="2400" dirty="0"/>
              <a:t>Viewing History </a:t>
            </a:r>
          </a:p>
          <a:p>
            <a:pPr lvl="0"/>
            <a:r>
              <a:rPr lang="en-US" sz="2400" dirty="0"/>
              <a:t>Ratings </a:t>
            </a:r>
          </a:p>
          <a:p>
            <a:pPr lvl="0"/>
            <a:r>
              <a:rPr lang="en-US" sz="2400" dirty="0"/>
              <a:t>User Preferences </a:t>
            </a:r>
          </a:p>
          <a:p>
            <a:pPr marL="0" indent="0">
              <a:buNone/>
            </a:pPr>
            <a:r>
              <a:rPr lang="en-US" sz="2400" b="1" dirty="0"/>
              <a:t>Result</a:t>
            </a:r>
          </a:p>
          <a:p>
            <a:pPr lvl="0"/>
            <a:r>
              <a:rPr lang="en-US" sz="2400" dirty="0"/>
              <a:t>Personalized Recommendations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3128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A2B2-7C95-60B3-BD82-10813BE8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C474-4038-1E4E-3413-648800282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dirty="0"/>
              <a:t>Learns from data </a:t>
            </a:r>
          </a:p>
          <a:p>
            <a:pPr lvl="0"/>
            <a:r>
              <a:rPr lang="en-US" sz="3200" dirty="0"/>
              <a:t>Automates decisions </a:t>
            </a:r>
          </a:p>
          <a:p>
            <a:pPr lvl="0"/>
            <a:r>
              <a:rPr lang="en-US" sz="3200" dirty="0"/>
              <a:t>High prediction accuracy </a:t>
            </a:r>
          </a:p>
          <a:p>
            <a:pPr lvl="0"/>
            <a:r>
              <a:rPr lang="en-US" sz="3200" dirty="0"/>
              <a:t>Handles large datasets </a:t>
            </a:r>
          </a:p>
          <a:p>
            <a:pPr lvl="0"/>
            <a:r>
              <a:rPr lang="en-US" sz="3200" dirty="0"/>
              <a:t>Personalization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34452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7FC7-257D-CFD1-98FC-7D7FB4B9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78B9-400D-8E5F-0EEE-771EFC8E3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Poor Data Quality </a:t>
            </a:r>
          </a:p>
          <a:p>
            <a:pPr lvl="0"/>
            <a:r>
              <a:rPr lang="en-US" sz="2800" dirty="0"/>
              <a:t>Bias </a:t>
            </a:r>
          </a:p>
          <a:p>
            <a:pPr lvl="0"/>
            <a:r>
              <a:rPr lang="en-US" sz="2800" dirty="0"/>
              <a:t>Overfitting </a:t>
            </a:r>
          </a:p>
          <a:p>
            <a:pPr lvl="0"/>
            <a:r>
              <a:rPr lang="en-US" sz="2800" dirty="0"/>
              <a:t>Privacy Issues </a:t>
            </a:r>
          </a:p>
          <a:p>
            <a:pPr lvl="0"/>
            <a:r>
              <a:rPr lang="en-US" sz="2800" dirty="0"/>
              <a:t>High Computational Cost </a:t>
            </a:r>
          </a:p>
          <a:p>
            <a:pPr lvl="0"/>
            <a:r>
              <a:rPr lang="en-US" sz="2800" dirty="0"/>
              <a:t>Interpretability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3320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5EBD-70E4-C9D0-B57E-ADCCDD65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/>
          <a:p>
            <a:r>
              <a:rPr lang="en-US" dirty="0"/>
              <a:t>Classroom Activity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DE10DD-F052-8094-315E-190D6A972EE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14457556"/>
              </p:ext>
            </p:extLst>
          </p:nvPr>
        </p:nvGraphicFramePr>
        <p:xfrm>
          <a:off x="744721" y="3423301"/>
          <a:ext cx="10588256" cy="2901300"/>
        </p:xfrm>
        <a:graphic>
          <a:graphicData uri="http://schemas.openxmlformats.org/drawingml/2006/table">
            <a:tbl>
              <a:tblPr/>
              <a:tblGrid>
                <a:gridCol w="6484299">
                  <a:extLst>
                    <a:ext uri="{9D8B030D-6E8A-4147-A177-3AD203B41FA5}">
                      <a16:colId xmlns:a16="http://schemas.microsoft.com/office/drawing/2014/main" val="3874629932"/>
                    </a:ext>
                  </a:extLst>
                </a:gridCol>
                <a:gridCol w="4103957">
                  <a:extLst>
                    <a:ext uri="{9D8B030D-6E8A-4147-A177-3AD203B41FA5}">
                      <a16:colId xmlns:a16="http://schemas.microsoft.com/office/drawing/2014/main" val="3857221440"/>
                    </a:ext>
                  </a:extLst>
                </a:gridCol>
              </a:tblGrid>
              <a:tr h="58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Problem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Learning Type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216824"/>
                  </a:ext>
                </a:extLst>
              </a:tr>
              <a:tr h="58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Spam Detection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410154"/>
                  </a:ext>
                </a:extLst>
              </a:tr>
              <a:tr h="58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 dirty="0">
                          <a:effectLst/>
                          <a:latin typeface="Arial" panose="020B0604020202020204" pitchFamily="34" charset="0"/>
                        </a:rPr>
                        <a:t>Customer Segmentation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903824"/>
                  </a:ext>
                </a:extLst>
              </a:tr>
              <a:tr h="58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Chess Playing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037243"/>
                  </a:ext>
                </a:extLst>
              </a:tr>
              <a:tr h="58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House Price Prediction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 dirty="0">
                          <a:effectLst/>
                          <a:latin typeface="Arial" panose="020B0604020202020204" pitchFamily="34" charset="0"/>
                        </a:rPr>
                        <a:t>?</a:t>
                      </a:r>
                    </a:p>
                  </a:txBody>
                  <a:tcPr marL="131877" marR="131877" marT="65939" marB="659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744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457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69F6-39AF-5B2A-273C-DAE4F941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9468-B8D4-6102-AF09-7CEFF9968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Important Issues</a:t>
            </a:r>
          </a:p>
          <a:p>
            <a:pPr lvl="0"/>
            <a:r>
              <a:rPr lang="en-US" sz="2400" dirty="0"/>
              <a:t>Fairness </a:t>
            </a:r>
          </a:p>
          <a:p>
            <a:pPr lvl="0"/>
            <a:r>
              <a:rPr lang="en-US" sz="2400" dirty="0"/>
              <a:t>Privacy </a:t>
            </a:r>
          </a:p>
          <a:p>
            <a:pPr lvl="0"/>
            <a:r>
              <a:rPr lang="en-US" sz="2400" dirty="0"/>
              <a:t>Transparency </a:t>
            </a:r>
          </a:p>
          <a:p>
            <a:pPr lvl="0"/>
            <a:r>
              <a:rPr lang="en-US" sz="2400" dirty="0"/>
              <a:t>Accountability </a:t>
            </a:r>
          </a:p>
          <a:p>
            <a:r>
              <a:rPr lang="en-US" sz="2400" dirty="0"/>
              <a:t>Discussion:</a:t>
            </a:r>
          </a:p>
          <a:p>
            <a:r>
              <a:rPr lang="en-US" sz="2400" dirty="0"/>
              <a:t>Should AI replace human decision making?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5337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5DE8-313F-FC52-3E00-1A46A6D0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AB35B-A30C-3666-E030-8936509B1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09" y="898071"/>
            <a:ext cx="10414581" cy="50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25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6DC0-67A8-E5ED-E16F-F73553D0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F274E-52F1-1D4F-E791-C4B2DF8ED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Hands-On Machine Learning – Aurélien </a:t>
            </a:r>
            <a:r>
              <a:rPr lang="en-US" dirty="0" err="1"/>
              <a:t>Géron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Pattern Recognition and Machine Learning – Christopher Bishop </a:t>
            </a:r>
          </a:p>
          <a:p>
            <a:pPr lvl="0"/>
            <a:r>
              <a:rPr lang="en-US" dirty="0"/>
              <a:t>Introduction to Machine Learning with Python – Müller &amp; Guido </a:t>
            </a:r>
          </a:p>
          <a:p>
            <a:pPr lvl="0"/>
            <a:r>
              <a:rPr lang="en-US" dirty="0"/>
              <a:t>Python Machine Learning – Raschka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419198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246</TotalTime>
  <Words>704</Words>
  <Application>Microsoft Office PowerPoint</Application>
  <PresentationFormat>Widescreen</PresentationFormat>
  <Paragraphs>239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Arial Nova Light</vt:lpstr>
      <vt:lpstr>Univers Condensed</vt:lpstr>
      <vt:lpstr>Lines</vt:lpstr>
      <vt:lpstr>Machine Learning Lecture 1: Introduction to Machine Learning    </vt:lpstr>
      <vt:lpstr>Learning Outcomes</vt:lpstr>
      <vt:lpstr>Topics Covered Today</vt:lpstr>
      <vt:lpstr>Where Have You Seen Machine Learning?</vt:lpstr>
      <vt:lpstr>What is Artificial Intelligence?</vt:lpstr>
      <vt:lpstr>What is Machine Learning?</vt:lpstr>
      <vt:lpstr>Traditional Programming vs Machine Learning</vt:lpstr>
      <vt:lpstr>Deep Learning What is Deep Learning?</vt:lpstr>
      <vt:lpstr>AI vs ML vs DL</vt:lpstr>
      <vt:lpstr>Deep learning vs machine learning</vt:lpstr>
      <vt:lpstr>Traditional ML and deep learning</vt:lpstr>
      <vt:lpstr>Evolution of AI</vt:lpstr>
      <vt:lpstr>Types of Machine Learning</vt:lpstr>
      <vt:lpstr>Supervised Learning</vt:lpstr>
      <vt:lpstr>Supervised Learning</vt:lpstr>
      <vt:lpstr>Unsupervised Learning</vt:lpstr>
      <vt:lpstr>Unsupervised Learning</vt:lpstr>
      <vt:lpstr>Reinforcement Learning</vt:lpstr>
      <vt:lpstr>Comparison of Learning Types</vt:lpstr>
      <vt:lpstr>Machine Learning Workflow</vt:lpstr>
      <vt:lpstr>Python Libraries</vt:lpstr>
      <vt:lpstr>Applications of Machine Learning</vt:lpstr>
      <vt:lpstr>Case Study</vt:lpstr>
      <vt:lpstr>Advantages</vt:lpstr>
      <vt:lpstr>Challenges</vt:lpstr>
      <vt:lpstr>Classroom Activity</vt:lpstr>
      <vt:lpstr>Ethics in AI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Maheen Zulfiqar</dc:creator>
  <cp:lastModifiedBy>Maheen Zulfiqar</cp:lastModifiedBy>
  <cp:revision>19</cp:revision>
  <dcterms:created xsi:type="dcterms:W3CDTF">2026-08-05T04:35:38Z</dcterms:created>
  <dcterms:modified xsi:type="dcterms:W3CDTF">2026-09-14T01:21:18Z</dcterms:modified>
</cp:coreProperties>
</file>